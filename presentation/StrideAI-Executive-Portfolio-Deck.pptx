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latin typeface="Aptos"/>
              </a:rPr>
              <a:t>StrideAI — AI Adaptive Running Coach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latin typeface="Aptos"/>
              </a:rPr>
              <a:t>Executive technical program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latin typeface="Aptos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120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0">
                <a:latin typeface="Aptos"/>
              </a:rPr>
              <a:t>Make personalized, continuously adaptive coaching accessible to everyday runners from 5K to marathon.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latin typeface="Aptos"/>
              </a:rPr>
              <a:t>Core differentiation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9377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0">
                <a:latin typeface="Aptos"/>
              </a:rPr>
              <a:t>The smartest adaptive running coach — continuously adapting training from performance, recovery, wearable data and real-world conditions.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160520"/>
            <a:ext cx="246888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latin typeface="Aptos"/>
              </a:rPr>
              <a:t>200K</a:t>
            </a:r>
            <a:br/>
            <a:r>
              <a:t>Downloads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4160520"/>
            <a:ext cx="246888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latin typeface="Aptos"/>
              </a:rPr>
              <a:t>&gt;4.7/5</a:t>
            </a:r>
            <a:br/>
            <a:r>
              <a:t>Rating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60520"/>
            <a:ext cx="246888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latin typeface="Aptos"/>
              </a:rPr>
              <a:t>&gt;50%</a:t>
            </a:r>
            <a:br/>
            <a:r>
              <a:t>30-day retention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4160520"/>
            <a:ext cx="246888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latin typeface="Aptos"/>
              </a:rPr>
              <a:t>&gt;70%</a:t>
            </a:r>
            <a:br/>
            <a:r>
              <a:t>Recommendation acceptance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latin typeface="Aptos"/>
              </a:rPr>
              <a:t>StrideAI | Technical Program Management Portfolio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latin typeface="Aptos"/>
              </a:rPr>
              <a:t>Product &amp; Technical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latin typeface="Aptos"/>
              </a:rPr>
              <a:t>Prioritize the differentiator before secondary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latin typeface="Aptos"/>
              </a:rPr>
              <a:t>MVP priority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88620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latin typeface="Aptos"/>
              </a:rPr>
              <a:t>Wearable sync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50008"/>
            <a:ext cx="388620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latin typeface="Aptos"/>
              </a:rPr>
              <a:t>Training load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08376"/>
            <a:ext cx="388620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latin typeface="Aptos"/>
              </a:rPr>
              <a:t>Recovery / fatigue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66744"/>
            <a:ext cx="388620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latin typeface="Aptos"/>
              </a:rPr>
              <a:t>Confidence-based adaptation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25112"/>
            <a:ext cx="388620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latin typeface="Aptos"/>
              </a:rPr>
              <a:t>Safety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83479"/>
            <a:ext cx="388620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latin typeface="Aptos"/>
              </a:rPr>
              <a:t>Recommendation explanation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12344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latin typeface="Aptos"/>
              </a:rPr>
              <a:t>Deferred to Phase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691640"/>
            <a:ext cx="320040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latin typeface="Aptos"/>
              </a:rPr>
              <a:t>Race predictor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2350008"/>
            <a:ext cx="320040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latin typeface="Aptos"/>
              </a:rPr>
              <a:t>Weekly summaries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3008376"/>
            <a:ext cx="320040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latin typeface="Aptos"/>
              </a:rPr>
              <a:t>Advanced progress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12344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latin typeface="Aptos"/>
              </a:rPr>
              <a:t>Decision 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1737360"/>
            <a:ext cx="278892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latin typeface="Aptos"/>
              </a:rPr>
              <a:t>Wearable + Workout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2468880"/>
            <a:ext cx="278892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latin typeface="Aptos"/>
              </a:rPr>
              <a:t>Data Processing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3200400"/>
            <a:ext cx="278892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latin typeface="Aptos"/>
              </a:rPr>
              <a:t>ML / Fatigue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3931920"/>
            <a:ext cx="278892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latin typeface="Aptos"/>
              </a:rPr>
              <a:t>Confidence + Adaptation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4663440"/>
            <a:ext cx="278892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latin typeface="Aptos"/>
              </a:rPr>
              <a:t>Deterministic Safety Rules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5394960"/>
            <a:ext cx="278892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latin typeface="Aptos"/>
              </a:rPr>
              <a:t>LLM Explanation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latin typeface="Aptos"/>
              </a:rPr>
              <a:t>StrideAI | Technical Program Management Portfolio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latin typeface="Aptos"/>
              </a:rPr>
              <a:t>Six-Week Program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latin typeface="Aptos"/>
              </a:rPr>
              <a:t>Critical path: validated data → fatigue model → safe adaptation → launch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123444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latin typeface="Aptos"/>
              </a:rPr>
              <a:t>W1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79" y="2148840"/>
            <a:ext cx="169164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latin typeface="Aptos"/>
              </a:rPr>
              <a:t>Architecture</a:t>
            </a:r>
            <a:br/>
            <a:r>
              <a:t>API + schemas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03120" y="1755648"/>
            <a:ext cx="3657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514600" y="1508760"/>
            <a:ext cx="123444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latin typeface="Aptos"/>
              </a:rPr>
              <a:t>W2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148840"/>
            <a:ext cx="169164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latin typeface="Aptos"/>
              </a:rPr>
              <a:t>Data ingestion</a:t>
            </a:r>
            <a:br/>
            <a:r>
              <a:t>End-to-end slice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77639" y="1755648"/>
            <a:ext cx="365761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89120" y="1508760"/>
            <a:ext cx="123444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latin typeface="Aptos"/>
              </a:rPr>
              <a:t>W3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148840"/>
            <a:ext cx="169164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latin typeface="Aptos"/>
              </a:rPr>
              <a:t>Training load</a:t>
            </a:r>
            <a:br/>
            <a:r>
              <a:t>Recovery + fatigue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1755648"/>
            <a:ext cx="3657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63640" y="1508760"/>
            <a:ext cx="123444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latin typeface="Aptos"/>
              </a:rPr>
              <a:t>W4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148840"/>
            <a:ext cx="169164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latin typeface="Aptos"/>
              </a:rPr>
              <a:t>Adaptation</a:t>
            </a:r>
            <a:br/>
            <a:r>
              <a:t>Safety + explanation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26679" y="1755648"/>
            <a:ext cx="365761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38159" y="1508760"/>
            <a:ext cx="123444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latin typeface="Aptos"/>
              </a:rPr>
              <a:t>W5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59" y="2148840"/>
            <a:ext cx="169164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latin typeface="Aptos"/>
              </a:rPr>
              <a:t>Integration</a:t>
            </a:r>
            <a:br/>
            <a:r>
              <a:t>Performance + monitoring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601199" y="1755648"/>
            <a:ext cx="3657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012680" y="1508760"/>
            <a:ext cx="123444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latin typeface="Aptos"/>
              </a:rPr>
              <a:t>W6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2148840"/>
            <a:ext cx="169164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latin typeface="Aptos"/>
              </a:rPr>
              <a:t>Internal beta</a:t>
            </a:r>
            <a:br/>
            <a:r>
              <a:t>Controlled rollout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977639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latin typeface="Aptos"/>
              </a:rPr>
              <a:t>Critical milestone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3891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latin typeface="Aptos"/>
              </a:rPr>
              <a:t>End of Week 2: one real workout flows end-to-end and produces a basic recommendation.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25780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latin typeface="Aptos"/>
              </a:rPr>
              <a:t>Program operating rhythm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6692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latin typeface="Aptos"/>
              </a:rPr>
              <a:t>Weekly program review  •  technical deep dive  •  dependency resolution  •  executive update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latin typeface="Aptos"/>
              </a:rPr>
              <a:t>StrideAI | Technical Program Management Portfolio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latin typeface="Aptos"/>
              </a:rPr>
              <a:t>Key Technical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latin typeface="Aptos"/>
              </a:rPr>
              <a:t>Use AI where it adds value — keep safety-critical behavior predictable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latin typeface="Aptos"/>
              </a:rPr>
              <a:t>Option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747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latin typeface="Aptos"/>
              </a:rPr>
              <a:t>LLM decides workout adaptation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9748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latin typeface="Aptos"/>
              </a:rPr>
              <a:t>Flexible and easy to evolve</a:t>
            </a:r>
            <a:br/>
            <a:r>
              <a:t>but harder to test and guarantee.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3258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latin typeface="Aptos"/>
              </a:rPr>
              <a:t>Option B — Recommended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737360"/>
            <a:ext cx="38404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latin typeface="Aptos"/>
              </a:rPr>
              <a:t>ML + deterministic logic decide</a:t>
            </a:r>
            <a:br/>
            <a:r>
              <a:t>LLM explains the 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697480"/>
            <a:ext cx="3566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latin typeface="Aptos"/>
              </a:rPr>
              <a:t>More predictable, testable and auditable.</a:t>
            </a:r>
            <a:br/>
            <a:r>
              <a:t>Better fit for safety-critical coaching.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1325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latin typeface="Aptos"/>
              </a:rPr>
              <a:t>Decision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783080"/>
            <a:ext cx="2468880" cy="43891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latin typeface="Aptos"/>
              </a:rPr>
              <a:t>Signals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468880"/>
            <a:ext cx="2468880" cy="43891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latin typeface="Aptos"/>
              </a:rPr>
              <a:t>ML /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3154680"/>
            <a:ext cx="2468880" cy="43891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latin typeface="Aptos"/>
              </a:rPr>
              <a:t>Confidence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3840480"/>
            <a:ext cx="2468880" cy="43891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latin typeface="Aptos"/>
              </a:rPr>
              <a:t>Safety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4526280"/>
            <a:ext cx="2468880" cy="43891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latin typeface="Aptos"/>
              </a:rPr>
              <a:t>Workout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5212080"/>
            <a:ext cx="2468880" cy="43891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latin typeface="Aptos"/>
              </a:rPr>
              <a:t>LLM explanation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51960"/>
            <a:ext cx="7680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latin typeface="Aptos"/>
              </a:rPr>
              <a:t>Principle: the LLM explains the decision; it does not independently invent safety-critical adaptations.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latin typeface="Aptos"/>
              </a:rPr>
              <a:t>StrideAI | Technical Program Management Portfolio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latin typeface="Aptos"/>
              </a:rPr>
              <a:t>Major Program Risk &amp; Executive Trade-off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latin typeface="Aptos"/>
              </a:rPr>
              <a:t>Recommendation quality is the critical path risk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82880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latin typeface="Aptos"/>
              </a:rPr>
              <a:t>Current</a:t>
            </a:r>
            <a:br/>
            <a:r>
              <a:t>74%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1800" y="1463040"/>
            <a:ext cx="219456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latin typeface="Aptos"/>
              </a:rPr>
              <a:t>Production target</a:t>
            </a:r>
            <a:br/>
            <a:r>
              <a:t>80%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4173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latin typeface="Aptos"/>
              </a:rPr>
              <a:t>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828800"/>
            <a:ext cx="52120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latin typeface="Aptos"/>
              </a:rPr>
              <a:t>Adaptive coaching is the core competitive advantage. Low-quality recommendations directly threaten user trust and product differentiation.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latin typeface="Aptos"/>
              </a:rPr>
              <a:t>Commercial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4480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latin typeface="Aptos"/>
              </a:rPr>
              <a:t>Delaying the announced launch risks a major partnership.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latin typeface="Aptos"/>
              </a:rPr>
              <a:t>Quality pressure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83480"/>
            <a:ext cx="4663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latin typeface="Aptos"/>
              </a:rPr>
              <a:t>A 100% rollout below the quality bar risks damaging the core product proposition.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2461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latin typeface="Aptos"/>
              </a:rPr>
              <a:t>Recommendation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3657600"/>
            <a:ext cx="530352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latin typeface="Aptos"/>
              </a:rPr>
              <a:t>Internal → Beta → 20% → 40% → 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4709160"/>
            <a:ext cx="5303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latin typeface="Aptos"/>
              </a:rPr>
              <a:t>Expand only when quality, safety and reliability gates pass. Pause or roll back if critical thresholds fail.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latin typeface="Aptos"/>
              </a:rPr>
              <a:t>StrideAI | Technical Program Management Portfolio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latin typeface="Aptos"/>
              </a:rPr>
              <a:t>AI Quality &amp; Safety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latin typeface="Aptos"/>
              </a:rPr>
              <a:t>Do not reduce AI quality to one accuracy number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24028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latin typeface="Aptos"/>
              </a:rPr>
              <a:t>1. Model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2240280"/>
            <a:ext cx="2057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latin typeface="Aptos"/>
              </a:rPr>
              <a:t>Precision • Recall • F1</a:t>
            </a:r>
            <a:br/>
            <a:r>
              <a:t>Calibration • error rates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1417320"/>
            <a:ext cx="224028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latin typeface="Aptos"/>
              </a:rPr>
              <a:t>2. Decision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240280"/>
            <a:ext cx="2057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latin typeface="Aptos"/>
              </a:rPr>
              <a:t>Expert review</a:t>
            </a:r>
            <a:br/>
            <a:r>
              <a:t>Historical backtesting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224028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latin typeface="Aptos"/>
              </a:rPr>
              <a:t>3. Safety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40280"/>
            <a:ext cx="2057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latin typeface="Aptos"/>
              </a:rPr>
              <a:t>Critical safety violations</a:t>
            </a:r>
            <a:br/>
            <a:r>
              <a:t>Target: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1417320"/>
            <a:ext cx="224028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latin typeface="Aptos"/>
              </a:rPr>
              <a:t>4. User outcomes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2240280"/>
            <a:ext cx="2057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latin typeface="Aptos"/>
              </a:rPr>
              <a:t>Acceptance • overrides</a:t>
            </a:r>
            <a:br/>
            <a:r>
              <a:t>Retention • satisfaction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576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latin typeface="Aptos"/>
              </a:rPr>
              <a:t>Controlled rollout gates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51960"/>
            <a:ext cx="160020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latin typeface="Aptos"/>
              </a:rPr>
              <a:t>Internal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4553712"/>
            <a:ext cx="502919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0360" y="4251960"/>
            <a:ext cx="160020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latin typeface="Aptos"/>
              </a:rPr>
              <a:t>Beta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480560" y="4553712"/>
            <a:ext cx="5029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0" y="4251960"/>
            <a:ext cx="160020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latin typeface="Aptos"/>
              </a:rPr>
              <a:t>20%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29400" y="4553712"/>
            <a:ext cx="5029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178040" y="4251960"/>
            <a:ext cx="160020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latin typeface="Aptos"/>
              </a:rPr>
              <a:t>40%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78240" y="4553712"/>
            <a:ext cx="5029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326880" y="4251960"/>
            <a:ext cx="160020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latin typeface="Aptos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12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latin typeface="Aptos"/>
              </a:rPr>
              <a:t>Each expansion requires evidence-based quality, safety and reliability gates. Rollback criteria are defined before launch.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latin typeface="Aptos"/>
              </a:rPr>
              <a:t>StrideAI | Technical Program Management Portfolio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latin typeface="Aptos"/>
              </a:rPr>
              <a:t>Executive Recommendation &amp; TPM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latin typeface="Aptos"/>
              </a:rPr>
              <a:t>Turn technical uncertainty into measurable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latin typeface="Aptos"/>
              </a:rPr>
              <a:t>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424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latin typeface="Aptos"/>
              </a:rPr>
              <a:t>Protect the commercial launch through controlled exposure while protecting the quality bar through evidence-based gates.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latin typeface="Aptos"/>
              </a:rPr>
              <a:t>What I would drive as TPM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latin typeface="Aptos"/>
              </a:rPr>
              <a:t>• Align Product, Engineering, Data Science, QA and Platform on the critical path.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6791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latin typeface="Aptos"/>
              </a:rPr>
              <a:t>• Quantify trade-offs instead of escalating symptoms.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306824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latin typeface="Aptos"/>
              </a:rPr>
              <a:t>• Make AI quality, safety and rollout gates explicit.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45736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latin typeface="Aptos"/>
              </a:rPr>
              <a:t>• Track dependencies, owners, triggers and mitigation.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84648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latin typeface="Aptos"/>
              </a:rPr>
              <a:t>• Give executives a clear recommendation and decision request.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715000"/>
            <a:ext cx="1069848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latin typeface="Aptos"/>
              </a:rPr>
              <a:t>Portfolio outcome: a complete AI technical program case study — strategy, architecture, execution, risk, AI evaluation and launch governance.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latin typeface="Aptos"/>
              </a:rPr>
              <a:t>StrideAI | Technical Program Management Portfolio   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